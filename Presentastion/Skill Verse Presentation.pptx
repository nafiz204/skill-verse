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0" r:id="rId9"/>
    <p:sldId id="271" r:id="rId10"/>
    <p:sldId id="266" r:id="rId11"/>
    <p:sldId id="267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7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5C2B8C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32408"/>
            <a:ext cx="8229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lang="en-US" dirty="0"/>
              <a:t>Skill Verse</a:t>
            </a:r>
          </a:p>
          <a:p>
            <a:pPr algn="l">
              <a:defRPr sz="5400" b="1">
                <a:solidFill>
                  <a:srgbClr val="FFFFFF"/>
                </a:solidFill>
              </a:defRPr>
            </a:pPr>
            <a:r>
              <a:rPr dirty="0"/>
              <a:t>LMS with Intelligent Task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154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i="1">
                <a:solidFill>
                  <a:srgbClr val="5EEAD4"/>
                </a:solidFill>
              </a:defRPr>
            </a:pPr>
            <a:r>
              <a:rPr dirty="0"/>
              <a:t>From enrollment to completion—AI that plans, nudges, and keeps learners 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5768"/>
            <a:ext cx="54935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dirty="0"/>
              <a:t>Group #</a:t>
            </a:r>
            <a:r>
              <a:rPr lang="en-US" dirty="0"/>
              <a:t>12</a:t>
            </a:r>
            <a:r>
              <a:rPr dirty="0"/>
              <a:t>:</a:t>
            </a:r>
            <a:endParaRPr lang="en-US" dirty="0"/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lang="en-US" dirty="0"/>
              <a:t>1.Nafiz Imtiaz - 2222044042 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lang="en-US" dirty="0"/>
              <a:t>2.Mahadi Hasan Nayan - 2222130042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16393"/>
            <a:ext cx="27337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5F5F5"/>
                </a:solidFill>
              </a:defRPr>
            </a:pPr>
            <a:r>
              <a:rPr lang="en-US" sz="1600" b="1" dirty="0"/>
              <a:t>CSE 327-Software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5303520"/>
            <a:ext cx="822960" cy="109728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5303520"/>
            <a:ext cx="822960" cy="109728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303520"/>
            <a:ext cx="822960" cy="1097280"/>
          </a:xfrm>
          <a:prstGeom prst="roundRect">
            <a:avLst/>
          </a:prstGeom>
          <a:solidFill>
            <a:srgbClr val="5EEA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t>Outline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Motivation and Problem Statement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45919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dirty="0"/>
              <a:t>Similar Solutions and Gaps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dirty="0"/>
              <a:t>Proposed Solution Overview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91839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" y="274320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/>
              <a:t>Requirement Analysis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dirty="0"/>
              <a:t>Technical Implementation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dirty="0"/>
              <a:t>Timeline &amp; Gantt Chart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37760"/>
            <a:ext cx="320040" cy="320040"/>
          </a:xfrm>
          <a:prstGeom prst="ellipse">
            <a:avLst/>
          </a:prstGeom>
          <a:solidFill>
            <a:srgbClr val="5C2B8C"/>
          </a:solidFill>
          <a:ln>
            <a:solidFill>
              <a:srgbClr val="5C2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37795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/>
              <a:t>UML Diagram</a:t>
            </a:r>
          </a:p>
        </p:txBody>
      </p:sp>
      <p:cxnSp>
        <p:nvCxnSpPr>
          <p:cNvPr id="21" name="Connector 20"/>
          <p:cNvCxnSpPr>
            <a:cxnSpLocks/>
            <a:stCxn id="3" idx="4"/>
            <a:endCxn id="5" idx="0"/>
          </p:cNvCxnSpPr>
          <p:nvPr/>
        </p:nvCxnSpPr>
        <p:spPr>
          <a:xfrm>
            <a:off x="800100" y="1417320"/>
            <a:ext cx="0" cy="228599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stCxn id="5" idx="4"/>
            <a:endCxn id="7" idx="0"/>
          </p:cNvCxnSpPr>
          <p:nvPr/>
        </p:nvCxnSpPr>
        <p:spPr>
          <a:xfrm>
            <a:off x="800100" y="1965959"/>
            <a:ext cx="0" cy="228601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7" idx="4"/>
            <a:endCxn id="9" idx="0"/>
          </p:cNvCxnSpPr>
          <p:nvPr/>
        </p:nvCxnSpPr>
        <p:spPr>
          <a:xfrm>
            <a:off x="800100" y="2514600"/>
            <a:ext cx="0" cy="228600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9" idx="4"/>
            <a:endCxn id="11" idx="0"/>
          </p:cNvCxnSpPr>
          <p:nvPr/>
        </p:nvCxnSpPr>
        <p:spPr>
          <a:xfrm>
            <a:off x="800100" y="3063240"/>
            <a:ext cx="0" cy="228599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11" idx="4"/>
            <a:endCxn id="13" idx="0"/>
          </p:cNvCxnSpPr>
          <p:nvPr/>
        </p:nvCxnSpPr>
        <p:spPr>
          <a:xfrm>
            <a:off x="800100" y="3611879"/>
            <a:ext cx="0" cy="228601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13" idx="4"/>
            <a:endCxn id="15" idx="0"/>
          </p:cNvCxnSpPr>
          <p:nvPr/>
        </p:nvCxnSpPr>
        <p:spPr>
          <a:xfrm>
            <a:off x="800100" y="4160520"/>
            <a:ext cx="0" cy="228600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15" idx="4"/>
            <a:endCxn id="17" idx="0"/>
          </p:cNvCxnSpPr>
          <p:nvPr/>
        </p:nvCxnSpPr>
        <p:spPr>
          <a:xfrm>
            <a:off x="800100" y="4709160"/>
            <a:ext cx="0" cy="228600"/>
          </a:xfrm>
          <a:prstGeom prst="line">
            <a:avLst/>
          </a:prstGeom>
          <a:ln w="25400">
            <a:solidFill>
              <a:srgbClr val="EC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A763EEA-2C90-7431-0436-E72F3D68A4BA}"/>
              </a:ext>
            </a:extLst>
          </p:cNvPr>
          <p:cNvSpPr txBox="1"/>
          <p:nvPr/>
        </p:nvSpPr>
        <p:spPr>
          <a:xfrm>
            <a:off x="1120140" y="331035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Feasibility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rPr dirty="0"/>
              <a:t>Introduction &amp;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280160"/>
          </a:xfrm>
          <a:prstGeom prst="roundRect">
            <a:avLst/>
          </a:prstGeom>
          <a:solidFill>
            <a:srgbClr val="EC579D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An LMS fused with an AI-powered task 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1280160"/>
          </a:xfrm>
          <a:prstGeom prst="roundRect">
            <a:avLst/>
          </a:prstGeom>
          <a:solidFill>
            <a:srgbClr val="F27749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Learners juggle courses, deadlines, and life—disorganization causes drop-offs; educators lack insight into disengagement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8229600" cy="1280160"/>
          </a:xfrm>
          <a:prstGeom prst="roundRect">
            <a:avLst/>
          </a:prstGeom>
          <a:solidFill>
            <a:srgbClr val="5C2B8C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AI breaks down work, schedules it intelligently, syncs with calendars, and nudges learners to completion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86400"/>
            <a:ext cx="8229600" cy="1097280"/>
          </a:xfrm>
          <a:prstGeom prst="roundRect">
            <a:avLst/>
          </a:prstGeom>
          <a:solidFill>
            <a:srgbClr val="5EEA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D"/>
                </a:solidFill>
              </a:defRPr>
            </a:pPr>
            <a: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D1D1D"/>
                </a:solidFill>
              </a:defRPr>
            </a:pPr>
            <a:r>
              <a:rPr dirty="0"/>
              <a:t>Increase course completion and on-time submissions • Boost educator visibility into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t>Similar Solutions &amp; Gaps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205791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5C2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Canvas/Moodle</a:t>
                      </a:r>
                    </a:p>
                  </a:txBody>
                  <a:tcPr>
                    <a:solidFill>
                      <a:srgbClr val="5C2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Coursera/edX</a:t>
                      </a:r>
                    </a:p>
                  </a:txBody>
                  <a:tcPr>
                    <a:solidFill>
                      <a:srgbClr val="5C2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Trello/Notion</a:t>
                      </a:r>
                    </a:p>
                  </a:txBody>
                  <a:tcPr>
                    <a:solidFill>
                      <a:srgbClr val="5C2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LMS</a:t>
                      </a:r>
                    </a:p>
                  </a:txBody>
                  <a:tcPr>
                    <a:solidFill>
                      <a:srgbClr val="5C2B8C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D1D"/>
                          </a:solidFill>
                        </a:defRPr>
                      </a:pPr>
                      <a:r>
                        <a:t>Course Delivery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D1D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D1D"/>
                          </a:solidFill>
                        </a:defRPr>
                      </a:pPr>
                      <a:r>
                        <a:t>AI Planning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D1D"/>
                          </a:solidFill>
                        </a:defRPr>
                      </a:pPr>
                      <a:r>
                        <a:rPr dirty="0"/>
                        <a:t>Cross-course Priority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D1D"/>
                          </a:solidFill>
                        </a:defRPr>
                      </a:pPr>
                      <a:r>
                        <a:t>Educator Analytics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808080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40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297680"/>
            <a:ext cx="8229600" cy="228600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EAD4"/>
                </a:solidFill>
              </a:defRPr>
            </a:pPr>
            <a:r>
              <a:t>OUR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End-to-end integration from course metadata to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AI-driven task breakdown and intelligent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Smart cross-course prioritization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Bi-directional calendar synchronization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Deep educator insights into task-level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t>Proposed Solution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64008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Turn course goals into a living plan that schedules itself and adapts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886200" cy="96012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EDUCATORS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Create/sell courses • Manage content • View engagement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828800"/>
            <a:ext cx="3886200" cy="96012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834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LEARNERS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Enroll &amp; learn • Manage tasks on Kanban board • AI assistance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17520"/>
            <a:ext cx="1097280" cy="1097280"/>
          </a:xfrm>
          <a:prstGeom prst="ellipse">
            <a:avLst/>
          </a:prstGeom>
          <a:solidFill>
            <a:srgbClr val="EC579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Course Modules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57400" y="3474720"/>
            <a:ext cx="27432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377440" y="3017520"/>
            <a:ext cx="1097280" cy="1097280"/>
          </a:xfrm>
          <a:prstGeom prst="ellipse">
            <a:avLst/>
          </a:prstGeom>
          <a:solidFill>
            <a:srgbClr val="F2774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Task Gen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20440" y="3474720"/>
            <a:ext cx="27432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40480" y="3017520"/>
            <a:ext cx="1097280" cy="1097280"/>
          </a:xfrm>
          <a:prstGeom prst="ellipse">
            <a:avLst/>
          </a:prstGeom>
          <a:solidFill>
            <a:srgbClr val="5C2B8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Smart Schedule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83480" y="3474720"/>
            <a:ext cx="27432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03520" y="3017520"/>
            <a:ext cx="1143000" cy="109728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Reminders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69380" y="3474720"/>
            <a:ext cx="27432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66560" y="3017520"/>
            <a:ext cx="1097280" cy="1097280"/>
          </a:xfrm>
          <a:prstGeom prst="ellipse">
            <a:avLst/>
          </a:prstGeom>
          <a:solidFill>
            <a:srgbClr val="64C86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EAD4"/>
                </a:solidFill>
              </a:defRPr>
            </a:pPr>
            <a: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Google Calendar (bi-directional)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Payment providers (Stripe)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Email notifications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2286000" y="5760720"/>
            <a:ext cx="457200" cy="457200"/>
          </a:xfrm>
          <a:prstGeom prst="ellipse">
            <a:avLst/>
          </a:prstGeom>
          <a:solidFill>
            <a:srgbClr val="5C2B8C"/>
          </a:solidFill>
          <a:ln w="254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31720" y="5833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6263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</a:defRPr>
            </a:pPr>
            <a:r>
              <a:t>Calendar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0" y="5760720"/>
            <a:ext cx="457200" cy="457200"/>
          </a:xfrm>
          <a:prstGeom prst="ellipse">
            <a:avLst/>
          </a:prstGeom>
          <a:solidFill>
            <a:srgbClr val="5C2B8C"/>
          </a:solidFill>
          <a:ln w="254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5833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6263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</a:defRPr>
            </a:pPr>
            <a:r>
              <a:t>Payments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0" y="5760720"/>
            <a:ext cx="457200" cy="457200"/>
          </a:xfrm>
          <a:prstGeom prst="ellipse">
            <a:avLst/>
          </a:prstGeom>
          <a:solidFill>
            <a:srgbClr val="5C2B8C"/>
          </a:solidFill>
          <a:ln w="254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74920" y="5833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6263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</a:defRPr>
            </a:pPr>
            <a:r>
              <a:t>Email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5760720"/>
            <a:ext cx="457200" cy="457200"/>
          </a:xfrm>
          <a:prstGeom prst="ellipse">
            <a:avLst/>
          </a:prstGeom>
          <a:solidFill>
            <a:srgbClr val="5C2B8C"/>
          </a:solidFill>
          <a:ln w="254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5833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6263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</a:defRPr>
            </a:pPr>
            <a: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t>Intelligent Task Planner (AI)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256032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EAD4"/>
                </a:solidFill>
              </a:defRPr>
            </a:pPr>
            <a:r>
              <a:t>AGENTIC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🤖 Breaks assignments into subtasks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📊 Schedules by urgency &amp;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76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⚡ Detects 'falling behind'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60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🎯 Proposes catch-up 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🔕 Avoids notification fatigue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914400"/>
            <a:ext cx="4114800" cy="256032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CONTROLS &amp;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User approval of generated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928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Editable priorities &amp;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276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Study hours per day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660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Change log: 'What &amp; why'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044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Full plan visibility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Deadlines • Course workload • Engagement patterns • Calendar events • User preferences • Past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1554480" cy="118872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Planner</a:t>
            </a:r>
            <a:br/>
            <a:r>
              <a:t>Agent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7480" y="55321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26080" y="5029200"/>
            <a:ext cx="1554480" cy="118872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Priority</a:t>
            </a:r>
            <a:br/>
            <a:r>
              <a:t>Engine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26280" y="55321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54880" y="5029200"/>
            <a:ext cx="1554480" cy="118872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Scheduler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355080" y="55321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83680" y="5029200"/>
            <a:ext cx="1554480" cy="1188720"/>
          </a:xfrm>
          <a:prstGeom prst="roundRect">
            <a:avLst/>
          </a:prstGeom>
          <a:solidFill>
            <a:srgbClr val="5EEA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Calendar/</a:t>
            </a:r>
            <a:br/>
            <a:r>
              <a:t>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rPr lang="en-US" dirty="0"/>
              <a:t>Requirement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99" y="1240027"/>
            <a:ext cx="3446060" cy="402354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8" y="1203759"/>
            <a:ext cx="34460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2400" dirty="0"/>
              <a:t>Functional Requirements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792196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User auth (Learner/Educator roles) and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44679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Course creation, modules/lessons, pricing, publishing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7492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Secure purchase and enrollment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947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Task board with tasks linked to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9110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AI-generated task suggestions and breakdowns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48272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Google Calendar bi-directional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37434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Reminder emails for deadlines/study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11754"/>
            <a:ext cx="3873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Educator analytics (enrollment, completion, engagement)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86074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 dirty="0"/>
              <a:t>• Learner productivity insights (time, streaks)</a:t>
            </a:r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2204DE49-8DE6-7A93-5A02-CD01D4433EB1}"/>
              </a:ext>
            </a:extLst>
          </p:cNvPr>
          <p:cNvSpPr/>
          <p:nvPr/>
        </p:nvSpPr>
        <p:spPr>
          <a:xfrm>
            <a:off x="4991100" y="1249282"/>
            <a:ext cx="3598457" cy="402354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Non-Functional Requirements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627BC6-75BA-2DD3-34FD-FB0130853E9F}"/>
              </a:ext>
            </a:extLst>
          </p:cNvPr>
          <p:cNvSpPr txBox="1"/>
          <p:nvPr/>
        </p:nvSpPr>
        <p:spPr>
          <a:xfrm>
            <a:off x="5054602" y="1792196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en-US" sz="1200" dirty="0"/>
              <a:t>User-Friendly</a:t>
            </a:r>
            <a:r>
              <a:rPr lang="en-US" dirty="0"/>
              <a:t> Interface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629963-E771-28D9-33A1-3F7F57AB3C05}"/>
              </a:ext>
            </a:extLst>
          </p:cNvPr>
          <p:cNvSpPr txBox="1"/>
          <p:nvPr/>
        </p:nvSpPr>
        <p:spPr>
          <a:xfrm>
            <a:off x="5054602" y="2045882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lang="en-US" sz="1200" dirty="0"/>
              <a:t>• </a:t>
            </a:r>
            <a:r>
              <a:rPr lang="en-US" sz="1200" b="1" i="0" dirty="0">
                <a:solidFill>
                  <a:srgbClr val="CCCCCC"/>
                </a:solidFill>
                <a:effectLst/>
                <a:latin typeface="ui-sans-serif"/>
              </a:rPr>
              <a:t>Fast &amp; </a:t>
            </a:r>
            <a:r>
              <a:rPr lang="en-US" sz="1200" b="1" i="0" dirty="0">
                <a:solidFill>
                  <a:srgbClr val="CCCCCC"/>
                </a:solidFill>
                <a:effectLst/>
              </a:rPr>
              <a:t>Responsive</a:t>
            </a:r>
            <a:r>
              <a:rPr lang="en-US" sz="1200" b="1" i="0" dirty="0">
                <a:solidFill>
                  <a:srgbClr val="CCCCCC"/>
                </a:solidFill>
                <a:effectLst/>
                <a:latin typeface="ui-sans-serif"/>
              </a:rPr>
              <a:t> Experience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D46FF5-FA31-F42B-E050-B33B6C64BD1C}"/>
              </a:ext>
            </a:extLst>
          </p:cNvPr>
          <p:cNvSpPr txBox="1"/>
          <p:nvPr/>
        </p:nvSpPr>
        <p:spPr>
          <a:xfrm>
            <a:off x="5054602" y="2316815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lang="en-US" sz="1200" dirty="0"/>
              <a:t>• </a:t>
            </a:r>
            <a:r>
              <a:rPr lang="en-US" sz="1200" b="1" i="0" dirty="0">
                <a:solidFill>
                  <a:srgbClr val="CCCCCC"/>
                </a:solidFill>
                <a:effectLst/>
              </a:rPr>
              <a:t>Security &amp; Data Privacy RLS in database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A824E-8842-6A34-AE56-0B92A1D4ED72}"/>
              </a:ext>
            </a:extLst>
          </p:cNvPr>
          <p:cNvSpPr txBox="1"/>
          <p:nvPr/>
        </p:nvSpPr>
        <p:spPr>
          <a:xfrm>
            <a:off x="5054602" y="2597500"/>
            <a:ext cx="363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lang="en-US" sz="1200" dirty="0"/>
              <a:t>• Reliability &amp;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rPr lang="en-US" dirty="0"/>
              <a:t>Feasibility Analysis</a:t>
            </a:r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B168BDDE-0870-E6AC-CFA8-0F64C6A2B31B}"/>
              </a:ext>
            </a:extLst>
          </p:cNvPr>
          <p:cNvSpPr/>
          <p:nvPr/>
        </p:nvSpPr>
        <p:spPr>
          <a:xfrm>
            <a:off x="457200" y="1462154"/>
            <a:ext cx="8229600" cy="1411203"/>
          </a:xfrm>
          <a:prstGeom prst="roundRect">
            <a:avLst/>
          </a:prstGeom>
          <a:solidFill>
            <a:srgbClr val="EC579D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Technical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Tailwind v4 + Framer Motion    [UI Design and  Animation]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Next.js 15 App 		      [Fast rendering and clean code architecture]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@supabase/ssr Client 	      [Cloud database, Authentication, Cookie session handling]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7E79D94F-D3E8-E8FE-07B1-0CA5214BF727}"/>
              </a:ext>
            </a:extLst>
          </p:cNvPr>
          <p:cNvSpPr/>
          <p:nvPr/>
        </p:nvSpPr>
        <p:spPr>
          <a:xfrm>
            <a:off x="457196" y="2979174"/>
            <a:ext cx="8229601" cy="1684943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Operational Feasibility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Clear Role Separation		[Educators and learners distinct dashboards]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Intuitive visual design		[</a:t>
            </a:r>
            <a:r>
              <a:rPr lang="en-US" sz="1400" b="1" i="0" dirty="0">
                <a:solidFill>
                  <a:srgbClr val="CCCCCC"/>
                </a:solidFill>
                <a:effectLst/>
              </a:rPr>
              <a:t>User Adoption &amp; Minimal Training</a:t>
            </a:r>
            <a:r>
              <a:rPr lang="en-US" sz="1400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Automated Security Guarding	[Next.js Middleware handles route protection]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Seamless Workflow Integration	[synchronization with Google Calendar and notifications]</a:t>
            </a:r>
          </a:p>
          <a:p>
            <a:pPr algn="ctr"/>
            <a:endParaRPr dirty="0"/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CC854E02-3FC4-DD9F-DD8F-4EC8A9A681EB}"/>
              </a:ext>
            </a:extLst>
          </p:cNvPr>
          <p:cNvSpPr/>
          <p:nvPr/>
        </p:nvSpPr>
        <p:spPr>
          <a:xfrm>
            <a:off x="457198" y="4764508"/>
            <a:ext cx="8229599" cy="1579895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Economic Feasibility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Open-Source Stack		[</a:t>
            </a:r>
            <a:r>
              <a:rPr lang="en-US" sz="1400" b="0" i="0" dirty="0">
                <a:solidFill>
                  <a:srgbClr val="CCCCCC"/>
                </a:solidFill>
                <a:effectLst/>
              </a:rPr>
              <a:t>Next.js, Tailwind CSS, TypeScript, </a:t>
            </a:r>
            <a:r>
              <a:rPr lang="en-US" sz="1400" b="0" i="0" dirty="0" err="1">
                <a:solidFill>
                  <a:srgbClr val="CCCCCC"/>
                </a:solidFill>
                <a:effectLst/>
              </a:rPr>
              <a:t>Lucide</a:t>
            </a:r>
            <a:r>
              <a:rPr lang="en-US" sz="1400" b="0" i="0" dirty="0">
                <a:solidFill>
                  <a:srgbClr val="CCCCCC"/>
                </a:solidFill>
                <a:effectLst/>
              </a:rPr>
              <a:t> Icons are completely open-source</a:t>
            </a:r>
            <a:r>
              <a:rPr lang="en-US" sz="1400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Free-Tier Managed Services[</a:t>
            </a:r>
            <a:r>
              <a:rPr lang="en-US" sz="1400" b="0" i="0" dirty="0" err="1">
                <a:solidFill>
                  <a:srgbClr val="CCCCCC"/>
                </a:solidFill>
                <a:effectLst/>
              </a:rPr>
              <a:t>Supabase</a:t>
            </a:r>
            <a:r>
              <a:rPr lang="en-US" sz="1400" b="0" i="0" dirty="0">
                <a:solidFill>
                  <a:srgbClr val="CCCCCC"/>
                </a:solidFill>
                <a:effectLst/>
              </a:rPr>
              <a:t>, </a:t>
            </a:r>
            <a:r>
              <a:rPr lang="en-US" sz="1400" b="0" i="0" dirty="0" err="1">
                <a:solidFill>
                  <a:srgbClr val="CCCCCC"/>
                </a:solidFill>
                <a:effectLst/>
              </a:rPr>
              <a:t>OpenRouter</a:t>
            </a:r>
            <a:r>
              <a:rPr lang="en-US" sz="1400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Operating Costs		[Serverless deployment (e.g., </a:t>
            </a:r>
            <a:r>
              <a:rPr lang="en-US" sz="1400" dirty="0" err="1"/>
              <a:t>Vercel</a:t>
            </a:r>
            <a:r>
              <a:rPr lang="en-US" sz="1400" dirty="0"/>
              <a:t>)]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60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961" y="27432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rPr lang="en-US" dirty="0"/>
              <a:t>UML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0B41C-9C4D-7380-7DAF-C9B6C85987A0}"/>
              </a:ext>
            </a:extLst>
          </p:cNvPr>
          <p:cNvSpPr txBox="1"/>
          <p:nvPr/>
        </p:nvSpPr>
        <p:spPr>
          <a:xfrm>
            <a:off x="906378" y="803692"/>
            <a:ext cx="5927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  <a:defRPr sz="4000" b="1">
                <a:solidFill>
                  <a:srgbClr val="5EEAD4"/>
                </a:solidFill>
              </a:defRPr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Use Case Diagram of our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56AE2-DE48-C82E-E4D4-CC472959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1203802"/>
            <a:ext cx="6237275" cy="752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5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228600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EAD4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rPr dirty="0"/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</a:defRPr>
            </a:pPr>
            <a:r>
              <a:rPr dirty="0"/>
              <a:t>Next.js 15, React, Tailwind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</a:defRPr>
            </a:pPr>
            <a:r>
              <a:rPr lang="en-US" dirty="0"/>
              <a:t>TypeScript, </a:t>
            </a:r>
            <a:r>
              <a:rPr dirty="0" err="1"/>
              <a:t>Supabase</a:t>
            </a:r>
            <a:r>
              <a:rPr dirty="0"/>
              <a:t> (Postgres, Auth, Storage)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</a:defRPr>
            </a:pPr>
            <a:r>
              <a:rPr dirty="0" err="1"/>
              <a:t>OpenRouter</a:t>
            </a:r>
            <a:r>
              <a:rPr dirty="0"/>
              <a:t> for LLM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</a:defRPr>
            </a:pPr>
            <a:r>
              <a:rPr dirty="0"/>
              <a:t>Google Calendar, Stripe,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914400"/>
            <a:ext cx="4114800" cy="228600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554480"/>
            <a:ext cx="1645920" cy="45720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Next.js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554480"/>
            <a:ext cx="1645920" cy="45720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API/Edge Fn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2194560"/>
            <a:ext cx="164592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Postgres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194560"/>
            <a:ext cx="1645920" cy="457200"/>
          </a:xfrm>
          <a:prstGeom prst="roundRect">
            <a:avLst/>
          </a:prstGeom>
          <a:solidFill>
            <a:srgbClr val="9664C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LLM/AI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2834640"/>
            <a:ext cx="1645920" cy="274320"/>
          </a:xfrm>
          <a:prstGeom prst="roundRect">
            <a:avLst/>
          </a:prstGeom>
          <a:solidFill>
            <a:srgbClr val="6496C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2834641"/>
            <a:ext cx="1463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Ext APIs</a:t>
            </a:r>
          </a:p>
        </p:txBody>
      </p:sp>
      <p:cxnSp>
        <p:nvCxnSpPr>
          <p:cNvPr id="25" name="Connector 24"/>
          <p:cNvCxnSpPr>
            <a:cxnSpLocks/>
            <a:stCxn id="15" idx="3"/>
          </p:cNvCxnSpPr>
          <p:nvPr/>
        </p:nvCxnSpPr>
        <p:spPr>
          <a:xfrm>
            <a:off x="6629400" y="1783080"/>
            <a:ext cx="228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19" idx="3"/>
          </p:cNvCxnSpPr>
          <p:nvPr/>
        </p:nvCxnSpPr>
        <p:spPr>
          <a:xfrm>
            <a:off x="6629400" y="2423160"/>
            <a:ext cx="228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3383280"/>
            <a:ext cx="8229600" cy="164592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 PLANNING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31920"/>
            <a:ext cx="1097280" cy="91440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1D1D"/>
                </a:solidFill>
              </a:defRPr>
            </a:pPr>
            <a:r>
              <a:t>1. Extract</a:t>
            </a:r>
            <a:br/>
            <a:r>
              <a:t>Metadata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764792" y="4343400"/>
            <a:ext cx="137160" cy="137160"/>
          </a:xfrm>
          <a:prstGeom prst="rightArrow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920239" y="3931920"/>
            <a:ext cx="1097280" cy="91440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65959" y="4069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1D1D"/>
                </a:solidFill>
              </a:defRPr>
            </a:pPr>
            <a:r>
              <a:t>2. LLM</a:t>
            </a:r>
            <a:br/>
            <a:r>
              <a:t>Generate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044951" y="4343400"/>
            <a:ext cx="137160" cy="137160"/>
          </a:xfrm>
          <a:prstGeom prst="rightArrow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200400" y="3931920"/>
            <a:ext cx="1097280" cy="91440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46120" y="4069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1D1D"/>
                </a:solidFill>
              </a:defRPr>
            </a:pPr>
            <a:r>
              <a:t>3. Priority</a:t>
            </a:r>
            <a:br/>
            <a:r>
              <a:t>Engine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325112" y="4343400"/>
            <a:ext cx="137160" cy="137160"/>
          </a:xfrm>
          <a:prstGeom prst="rightArrow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80559" y="3931920"/>
            <a:ext cx="1097280" cy="91440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26279" y="4069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1D1D"/>
                </a:solidFill>
              </a:defRPr>
            </a:pPr>
            <a:r>
              <a:t>4. Schedule</a:t>
            </a:r>
            <a:br/>
            <a:r>
              <a:t>Slots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605271" y="4343400"/>
            <a:ext cx="137160" cy="137160"/>
          </a:xfrm>
          <a:prstGeom prst="rightArrow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760720" y="3931920"/>
            <a:ext cx="1097280" cy="91440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06440" y="4069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1D1D"/>
                </a:solidFill>
              </a:defRPr>
            </a:pPr>
            <a:r>
              <a:t>5. User</a:t>
            </a:r>
            <a:br/>
            <a:r>
              <a:t>Approval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885431" y="4343400"/>
            <a:ext cx="137160" cy="137160"/>
          </a:xfrm>
          <a:prstGeom prst="rightArrow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040880" y="3931920"/>
            <a:ext cx="1097280" cy="91440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86600" y="4069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1D1D"/>
                </a:solidFill>
              </a:defRPr>
            </a:pPr>
            <a:r>
              <a:t>6. Sync &amp;</a:t>
            </a:r>
            <a:br/>
            <a:r>
              <a:t>Remind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3156" y="5257800"/>
            <a:ext cx="8229600" cy="1371600"/>
          </a:xfrm>
          <a:prstGeom prst="roundRect">
            <a:avLst/>
          </a:prstGeom>
          <a:solidFill>
            <a:srgbClr val="5EEA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D"/>
                </a:solidFill>
              </a:defRPr>
            </a:pPr>
            <a:r>
              <a:t>SECURITY &amp;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150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D"/>
                </a:solidFill>
              </a:defRPr>
            </a:pPr>
            <a:r>
              <a:rPr dirty="0"/>
              <a:t>🔐 RBAC by role + RLS policies per tenant/user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893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D"/>
                </a:solidFill>
              </a:defRPr>
            </a:pPr>
            <a:r>
              <a:rPr dirty="0"/>
              <a:t>🔑 Signed URLs for media • Server-side secrets • Rate limiting on AI endpoints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263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D"/>
                </a:solidFill>
              </a:defRPr>
            </a:pPr>
            <a:r>
              <a:rPr dirty="0"/>
              <a:t>📊 Core entities: User, Role, Course, Module, Lesson, Enrollment, Task, Plan, Payment, </a:t>
            </a:r>
            <a:r>
              <a:rPr dirty="0" err="1"/>
              <a:t>ActivityLog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EEAD4"/>
                </a:solidFill>
              </a:defRPr>
            </a:pPr>
            <a:r>
              <a:rPr dirty="0"/>
              <a:t>Timeline &amp; Gantt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EEAD4"/>
                </a:solidFill>
              </a:defRPr>
            </a:pPr>
            <a:r>
              <a:t>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W2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W3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rPr dirty="0"/>
              <a:t>W4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W6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9144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EEAD4"/>
                </a:solidFill>
              </a:defRPr>
            </a:pPr>
            <a:r>
              <a:t>W7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Discovery/Design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417320"/>
            <a:ext cx="1371600" cy="27432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4260" y="232854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dirty="0"/>
              <a:t>Core LMS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874519"/>
            <a:ext cx="1371600" cy="27432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8017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dirty="0"/>
              <a:t>Task Board 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331720"/>
            <a:ext cx="1371600" cy="27432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6247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dirty="0"/>
              <a:t>AI Planner v1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788920"/>
            <a:ext cx="1371600" cy="274320"/>
          </a:xfrm>
          <a:prstGeom prst="roundRect">
            <a:avLst/>
          </a:prstGeom>
          <a:solidFill>
            <a:srgbClr val="5EEA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32385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rPr dirty="0"/>
              <a:t>Calendar</a:t>
            </a:r>
            <a:r>
              <a:rPr lang="en-US" dirty="0"/>
              <a:t> &amp; Notifications</a:t>
            </a:r>
            <a:r>
              <a:rPr dirty="0"/>
              <a:t>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246120"/>
            <a:ext cx="640080" cy="274320"/>
          </a:xfrm>
          <a:prstGeom prst="roundRect">
            <a:avLst/>
          </a:prstGeom>
          <a:solidFill>
            <a:srgbClr val="6496C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4260" y="4647268"/>
            <a:ext cx="32106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lang="en-US" dirty="0"/>
              <a:t>External Integrations [Canvas, Open Router]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126480" y="3703320"/>
            <a:ext cx="640080" cy="274320"/>
          </a:xfrm>
          <a:prstGeom prst="roundRect">
            <a:avLst/>
          </a:prstGeom>
          <a:solidFill>
            <a:srgbClr val="9664C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260" y="419410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dirty="0"/>
              <a:t>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60520"/>
            <a:ext cx="1417320" cy="274320"/>
          </a:xfrm>
          <a:prstGeom prst="roundRect">
            <a:avLst/>
          </a:prstGeom>
          <a:solidFill>
            <a:srgbClr val="64C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4260" y="510353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lang="en-US" dirty="0"/>
              <a:t>Testing 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7533223" y="5089882"/>
            <a:ext cx="640080" cy="274320"/>
          </a:xfrm>
          <a:prstGeom prst="roundRect">
            <a:avLst/>
          </a:prstGeom>
          <a:solidFill>
            <a:srgbClr val="EC57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4260" y="5495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dirty="0"/>
              <a:t>Pilot &amp; Present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33223" y="5545206"/>
            <a:ext cx="640080" cy="274320"/>
          </a:xfrm>
          <a:prstGeom prst="roundRect">
            <a:avLst/>
          </a:prstGeom>
          <a:solidFill>
            <a:srgbClr val="F2774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896AD4-9668-6769-1DD4-DB280EF1A0B2}"/>
              </a:ext>
            </a:extLst>
          </p:cNvPr>
          <p:cNvSpPr txBox="1"/>
          <p:nvPr/>
        </p:nvSpPr>
        <p:spPr>
          <a:xfrm>
            <a:off x="457200" y="1923183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lang="en-US" dirty="0"/>
              <a:t>0Auth2.0 + Database</a:t>
            </a:r>
            <a:endParaRPr dirty="0"/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CCA88026-033C-EF84-CAA9-C071FD169C84}"/>
              </a:ext>
            </a:extLst>
          </p:cNvPr>
          <p:cNvSpPr/>
          <p:nvPr/>
        </p:nvSpPr>
        <p:spPr>
          <a:xfrm>
            <a:off x="6766560" y="4634558"/>
            <a:ext cx="822960" cy="261610"/>
          </a:xfrm>
          <a:prstGeom prst="roundRect">
            <a:avLst/>
          </a:prstGeom>
          <a:solidFill>
            <a:srgbClr val="5C2B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D1D1D"/>
            </a:gs>
            <a:gs pos="100000">
              <a:srgbClr val="28283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3C76523-C767-7D2C-597B-02D8631BEB27}"/>
              </a:ext>
            </a:extLst>
          </p:cNvPr>
          <p:cNvSpPr/>
          <p:nvPr/>
        </p:nvSpPr>
        <p:spPr>
          <a:xfrm>
            <a:off x="1676400" y="2759242"/>
            <a:ext cx="5494421" cy="1339516"/>
          </a:xfrm>
          <a:prstGeom prst="roundRect">
            <a:avLst/>
          </a:prstGeom>
          <a:solidFill>
            <a:srgbClr val="5C2B8C"/>
          </a:solidFill>
          <a:ln>
            <a:solidFill>
              <a:srgbClr val="FFFF0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Thank You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166932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821</Words>
  <Application>Microsoft Office PowerPoint</Application>
  <PresentationFormat>On-screen Show (4:3)</PresentationFormat>
  <Paragraphs>197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Nafiz Imtiaz</cp:lastModifiedBy>
  <cp:revision>18</cp:revision>
  <dcterms:created xsi:type="dcterms:W3CDTF">2013-01-27T09:14:16Z</dcterms:created>
  <dcterms:modified xsi:type="dcterms:W3CDTF">2026-08-05T13:08:51Z</dcterms:modified>
  <cp:category/>
</cp:coreProperties>
</file>